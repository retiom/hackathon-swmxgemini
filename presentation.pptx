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et" charset="1" panose="00000000000000000000"/>
      <p:regular r:id="rId12"/>
    </p:embeddedFont>
    <p:embeddedFont>
      <p:font typeface="Poppins" charset="1" panose="00000500000000000000"/>
      <p:regular r:id="rId13"/>
    </p:embeddedFont>
    <p:embeddedFont>
      <p:font typeface="Poppins Bold" charset="1" panose="00000800000000000000"/>
      <p:regular r:id="rId14"/>
    </p:embeddedFont>
    <p:embeddedFont>
      <p:font typeface="Garet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910256" y="-1024396"/>
            <a:ext cx="18037604" cy="5764518"/>
          </a:xfrm>
          <a:custGeom>
            <a:avLst/>
            <a:gdLst/>
            <a:ahLst/>
            <a:cxnLst/>
            <a:rect r="r" b="b" t="t" l="l"/>
            <a:pathLst>
              <a:path h="5764518" w="18037604">
                <a:moveTo>
                  <a:pt x="18037604" y="0"/>
                </a:moveTo>
                <a:lnTo>
                  <a:pt x="0" y="0"/>
                </a:lnTo>
                <a:lnTo>
                  <a:pt x="0" y="5764518"/>
                </a:lnTo>
                <a:lnTo>
                  <a:pt x="18037604" y="5764518"/>
                </a:lnTo>
                <a:lnTo>
                  <a:pt x="1803760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374553">
            <a:off x="-3009618" y="5893516"/>
            <a:ext cx="11894220" cy="5734005"/>
          </a:xfrm>
          <a:custGeom>
            <a:avLst/>
            <a:gdLst/>
            <a:ahLst/>
            <a:cxnLst/>
            <a:rect r="r" b="b" t="t" l="l"/>
            <a:pathLst>
              <a:path h="5734005" w="11894220">
                <a:moveTo>
                  <a:pt x="11894220" y="0"/>
                </a:moveTo>
                <a:lnTo>
                  <a:pt x="0" y="0"/>
                </a:lnTo>
                <a:lnTo>
                  <a:pt x="0" y="5734006"/>
                </a:lnTo>
                <a:lnTo>
                  <a:pt x="11894220" y="5734006"/>
                </a:lnTo>
                <a:lnTo>
                  <a:pt x="1189422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37492" y="2792506"/>
            <a:ext cx="10278611" cy="398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2"/>
              </a:lnSpc>
            </a:pPr>
            <a:r>
              <a:rPr lang="en-US" sz="15646" spc="-98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Third Ear</a:t>
            </a:r>
          </a:p>
          <a:p>
            <a:pPr algn="l">
              <a:lnSpc>
                <a:spcPts val="14712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306171" y="4929569"/>
            <a:ext cx="9604085" cy="53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AI Audio Description for Live Video.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927248">
            <a:off x="-2791102" y="4024894"/>
            <a:ext cx="12739531" cy="4495993"/>
          </a:xfrm>
          <a:custGeom>
            <a:avLst/>
            <a:gdLst/>
            <a:ahLst/>
            <a:cxnLst/>
            <a:rect r="r" b="b" t="t" l="l"/>
            <a:pathLst>
              <a:path h="4495993" w="12739531">
                <a:moveTo>
                  <a:pt x="0" y="0"/>
                </a:moveTo>
                <a:lnTo>
                  <a:pt x="12739531" y="0"/>
                </a:lnTo>
                <a:lnTo>
                  <a:pt x="12739531" y="4495993"/>
                </a:lnTo>
                <a:lnTo>
                  <a:pt x="0" y="44959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2515" y="-2310977"/>
            <a:ext cx="11894220" cy="5734005"/>
          </a:xfrm>
          <a:custGeom>
            <a:avLst/>
            <a:gdLst/>
            <a:ahLst/>
            <a:cxnLst/>
            <a:rect r="r" b="b" t="t" l="l"/>
            <a:pathLst>
              <a:path h="5734005" w="11894220">
                <a:moveTo>
                  <a:pt x="0" y="0"/>
                </a:moveTo>
                <a:lnTo>
                  <a:pt x="11894221" y="0"/>
                </a:lnTo>
                <a:lnTo>
                  <a:pt x="11894221" y="5734006"/>
                </a:lnTo>
                <a:lnTo>
                  <a:pt x="0" y="5734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08159" y="594606"/>
            <a:ext cx="11934417" cy="97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4"/>
              </a:lnSpc>
            </a:pPr>
            <a:r>
              <a:rPr lang="en-US" sz="7100" spc="-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Problem: Left in the Dark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21204" y="2366818"/>
            <a:ext cx="10974198" cy="548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288" indent="-282144" lvl="1">
              <a:lnSpc>
                <a:spcPts val="3659"/>
              </a:lnSpc>
              <a:buFont typeface="Arial"/>
              <a:buChar char="•"/>
            </a:pPr>
            <a:r>
              <a:rPr lang="en-US" b="true" sz="261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massive audience: </a:t>
            </a:r>
            <a:r>
              <a:rPr lang="en-US" sz="26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 2.2 billion people worldwide live with visual impairment.</a:t>
            </a:r>
          </a:p>
          <a:p>
            <a:pPr algn="l">
              <a:lnSpc>
                <a:spcPts val="3659"/>
              </a:lnSpc>
            </a:pPr>
          </a:p>
          <a:p>
            <a:pPr algn="l" marL="564288" indent="-282144" lvl="1">
              <a:lnSpc>
                <a:spcPts val="3659"/>
              </a:lnSpc>
              <a:buFont typeface="Arial"/>
              <a:buChar char="•"/>
            </a:pPr>
            <a:r>
              <a:rPr lang="en-US" b="true" sz="261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Completely manual:</a:t>
            </a:r>
            <a:r>
              <a:rPr lang="en-US" sz="26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Traditional audio description relies entirely on human writers and voice actors.</a:t>
            </a:r>
          </a:p>
          <a:p>
            <a:pPr algn="l">
              <a:lnSpc>
                <a:spcPts val="3659"/>
              </a:lnSpc>
            </a:pPr>
          </a:p>
          <a:p>
            <a:pPr algn="l" marL="564288" indent="-282144" lvl="1">
              <a:lnSpc>
                <a:spcPts val="3659"/>
              </a:lnSpc>
              <a:buFont typeface="Arial"/>
              <a:buChar char="•"/>
            </a:pPr>
            <a:r>
              <a:rPr lang="en-US" b="true" sz="261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Too slow for today: </a:t>
            </a:r>
            <a:r>
              <a:rPr lang="en-US" sz="26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Because it's manual, it’s expensive and restricted only to pre-recorded media like Netflix.</a:t>
            </a:r>
          </a:p>
          <a:p>
            <a:pPr algn="l">
              <a:lnSpc>
                <a:spcPts val="3659"/>
              </a:lnSpc>
            </a:pPr>
          </a:p>
          <a:p>
            <a:pPr algn="l" marL="564288" indent="-282144" lvl="1">
              <a:lnSpc>
                <a:spcPts val="3659"/>
              </a:lnSpc>
              <a:buFont typeface="Arial"/>
              <a:buChar char="•"/>
            </a:pPr>
            <a:r>
              <a:rPr lang="en-US" b="true" sz="261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blind spot: </a:t>
            </a:r>
            <a:r>
              <a:rPr lang="en-US" sz="26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leaves live streams, breaking news, and interactive broadcasts with zero accessibility.</a:t>
            </a:r>
          </a:p>
          <a:p>
            <a:pPr algn="l">
              <a:lnSpc>
                <a:spcPts val="36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26341" y="674345"/>
            <a:ext cx="8088028" cy="7838647"/>
          </a:xfrm>
          <a:custGeom>
            <a:avLst/>
            <a:gdLst/>
            <a:ahLst/>
            <a:cxnLst/>
            <a:rect r="r" b="b" t="t" l="l"/>
            <a:pathLst>
              <a:path h="7838647" w="8088028">
                <a:moveTo>
                  <a:pt x="0" y="0"/>
                </a:moveTo>
                <a:lnTo>
                  <a:pt x="8088028" y="0"/>
                </a:lnTo>
                <a:lnTo>
                  <a:pt x="8088028" y="7838647"/>
                </a:lnTo>
                <a:lnTo>
                  <a:pt x="0" y="7838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92016" y="4267974"/>
            <a:ext cx="2937238" cy="4575091"/>
            <a:chOff x="0" y="0"/>
            <a:chExt cx="932601" cy="14526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1E00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4259" y="4267974"/>
            <a:ext cx="2937238" cy="4575091"/>
            <a:chOff x="0" y="0"/>
            <a:chExt cx="932601" cy="1452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610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36502" y="4267974"/>
            <a:ext cx="2937238" cy="4575091"/>
            <a:chOff x="0" y="0"/>
            <a:chExt cx="932601" cy="14526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911F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58745" y="4267974"/>
            <a:ext cx="2937238" cy="4575091"/>
            <a:chOff x="0" y="0"/>
            <a:chExt cx="932601" cy="1452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601" cy="1452634"/>
            </a:xfrm>
            <a:custGeom>
              <a:avLst/>
              <a:gdLst/>
              <a:ahLst/>
              <a:cxnLst/>
              <a:rect r="r" b="b" t="t" l="l"/>
              <a:pathLst>
                <a:path h="1452634" w="932601">
                  <a:moveTo>
                    <a:pt x="110703" y="0"/>
                  </a:moveTo>
                  <a:lnTo>
                    <a:pt x="821898" y="0"/>
                  </a:lnTo>
                  <a:cubicBezTo>
                    <a:pt x="851258" y="0"/>
                    <a:pt x="879416" y="11663"/>
                    <a:pt x="900177" y="32424"/>
                  </a:cubicBezTo>
                  <a:cubicBezTo>
                    <a:pt x="920937" y="53185"/>
                    <a:pt x="932601" y="81343"/>
                    <a:pt x="932601" y="110703"/>
                  </a:cubicBezTo>
                  <a:lnTo>
                    <a:pt x="932601" y="1341931"/>
                  </a:lnTo>
                  <a:cubicBezTo>
                    <a:pt x="932601" y="1371291"/>
                    <a:pt x="920937" y="1399449"/>
                    <a:pt x="900177" y="1420210"/>
                  </a:cubicBezTo>
                  <a:cubicBezTo>
                    <a:pt x="879416" y="1440971"/>
                    <a:pt x="851258" y="1452634"/>
                    <a:pt x="821898" y="1452634"/>
                  </a:cubicBezTo>
                  <a:lnTo>
                    <a:pt x="110703" y="1452634"/>
                  </a:lnTo>
                  <a:cubicBezTo>
                    <a:pt x="81343" y="1452634"/>
                    <a:pt x="53185" y="1440971"/>
                    <a:pt x="32424" y="1420210"/>
                  </a:cubicBezTo>
                  <a:cubicBezTo>
                    <a:pt x="11663" y="1399449"/>
                    <a:pt x="0" y="1371291"/>
                    <a:pt x="0" y="1341931"/>
                  </a:cubicBezTo>
                  <a:lnTo>
                    <a:pt x="0" y="110703"/>
                  </a:lnTo>
                  <a:cubicBezTo>
                    <a:pt x="0" y="81343"/>
                    <a:pt x="11663" y="53185"/>
                    <a:pt x="32424" y="32424"/>
                  </a:cubicBezTo>
                  <a:cubicBezTo>
                    <a:pt x="53185" y="11663"/>
                    <a:pt x="81343" y="0"/>
                    <a:pt x="110703" y="0"/>
                  </a:cubicBezTo>
                  <a:close/>
                </a:path>
              </a:pathLst>
            </a:custGeom>
            <a:solidFill>
              <a:srgbClr val="C941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32601" cy="1490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38153" y="4737610"/>
            <a:ext cx="2444965" cy="88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2539" spc="-1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100% Automated &amp; Real-Time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64537" y="4863295"/>
            <a:ext cx="2444965" cy="60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2539" spc="-1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Dynamic Scene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6502" y="4863295"/>
            <a:ext cx="2777239" cy="60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2539" spc="-1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"Smart Injection"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04882" y="5013835"/>
            <a:ext cx="2444965" cy="33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b="true" sz="2539" spc="-1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Non-Disruptive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92016" y="1871662"/>
            <a:ext cx="12621720" cy="97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4"/>
              </a:lnSpc>
            </a:pPr>
            <a:r>
              <a:rPr lang="en-US" sz="7100" spc="-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Solution: Third Ear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20243" y="5966239"/>
            <a:ext cx="1889066" cy="159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Zero human scripting or voice acting required.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03512" y="5766214"/>
            <a:ext cx="2167016" cy="19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Instantly translates live on-screen action into accurate text.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91843" y="5766214"/>
            <a:ext cx="2026557" cy="199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Continuously monitors the native audio track for silence.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35816" y="5564721"/>
            <a:ext cx="2167016" cy="279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Seamlessly injects spoken AI descriptions only during natural dialogue pauses.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08161" y="-825496"/>
            <a:ext cx="6332801" cy="6137539"/>
          </a:xfrm>
          <a:custGeom>
            <a:avLst/>
            <a:gdLst/>
            <a:ahLst/>
            <a:cxnLst/>
            <a:rect r="r" b="b" t="t" l="l"/>
            <a:pathLst>
              <a:path h="6137539" w="6332801">
                <a:moveTo>
                  <a:pt x="0" y="0"/>
                </a:moveTo>
                <a:lnTo>
                  <a:pt x="6332800" y="0"/>
                </a:lnTo>
                <a:lnTo>
                  <a:pt x="6332800" y="6137540"/>
                </a:lnTo>
                <a:lnTo>
                  <a:pt x="0" y="6137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9775" y="3516508"/>
            <a:ext cx="10653205" cy="640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Fishjam: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Low-latency real-time video/audio streaming infrastructure.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Gemini Live API: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Multimodal vision engine analyzing video frames for context.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PyAV / FFmpeg: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Real-time media processor intercepting the live stream.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Torch &amp; Torchaudio: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High-speed audio data transformation.</a:t>
            </a:r>
          </a:p>
          <a:p>
            <a:pPr algn="l">
              <a:lnSpc>
                <a:spcPts val="3640"/>
              </a:lnSpc>
            </a:pP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VAD (Voice Activity Detection):</a:t>
            </a: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Neural network analyzing the audio track to identify silence gaps.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48735" y="1133475"/>
            <a:ext cx="11128828" cy="190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4"/>
              </a:lnSpc>
            </a:pPr>
            <a:r>
              <a:rPr lang="en-US" sz="7100" spc="-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Under the Hood: The Tech Stack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33824" y="-1664092"/>
            <a:ext cx="11894220" cy="5734005"/>
          </a:xfrm>
          <a:custGeom>
            <a:avLst/>
            <a:gdLst/>
            <a:ahLst/>
            <a:cxnLst/>
            <a:rect r="r" b="b" t="t" l="l"/>
            <a:pathLst>
              <a:path h="5734005" w="11894220">
                <a:moveTo>
                  <a:pt x="0" y="0"/>
                </a:moveTo>
                <a:lnTo>
                  <a:pt x="11894220" y="0"/>
                </a:lnTo>
                <a:lnTo>
                  <a:pt x="11894220" y="5734006"/>
                </a:lnTo>
                <a:lnTo>
                  <a:pt x="0" y="5734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08900" y="-1160002"/>
            <a:ext cx="4300800" cy="4377405"/>
          </a:xfrm>
          <a:custGeom>
            <a:avLst/>
            <a:gdLst/>
            <a:ahLst/>
            <a:cxnLst/>
            <a:rect r="r" b="b" t="t" l="l"/>
            <a:pathLst>
              <a:path h="4377405" w="4300800">
                <a:moveTo>
                  <a:pt x="0" y="0"/>
                </a:moveTo>
                <a:lnTo>
                  <a:pt x="4300800" y="0"/>
                </a:lnTo>
                <a:lnTo>
                  <a:pt x="4300800" y="4377404"/>
                </a:lnTo>
                <a:lnTo>
                  <a:pt x="0" y="437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71693" y="3451292"/>
            <a:ext cx="11826808" cy="97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4"/>
              </a:lnSpc>
            </a:pPr>
            <a:r>
              <a:rPr lang="en-US" sz="7100" spc="-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Demo: Third Ear in Action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8954" y="-777273"/>
            <a:ext cx="8344335" cy="8229600"/>
          </a:xfrm>
          <a:custGeom>
            <a:avLst/>
            <a:gdLst/>
            <a:ahLst/>
            <a:cxnLst/>
            <a:rect r="r" b="b" t="t" l="l"/>
            <a:pathLst>
              <a:path h="8229600" w="8344335">
                <a:moveTo>
                  <a:pt x="0" y="0"/>
                </a:moveTo>
                <a:lnTo>
                  <a:pt x="8344334" y="0"/>
                </a:lnTo>
                <a:lnTo>
                  <a:pt x="83443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01863" y="5843206"/>
            <a:ext cx="6365263" cy="6478639"/>
          </a:xfrm>
          <a:custGeom>
            <a:avLst/>
            <a:gdLst/>
            <a:ahLst/>
            <a:cxnLst/>
            <a:rect r="r" b="b" t="t" l="l"/>
            <a:pathLst>
              <a:path h="6478639" w="6365263">
                <a:moveTo>
                  <a:pt x="0" y="0"/>
                </a:moveTo>
                <a:lnTo>
                  <a:pt x="6365263" y="0"/>
                </a:lnTo>
                <a:lnTo>
                  <a:pt x="6365263" y="6478639"/>
                </a:lnTo>
                <a:lnTo>
                  <a:pt x="0" y="647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3126" y="1238297"/>
            <a:ext cx="10970786" cy="97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4"/>
              </a:lnSpc>
            </a:pPr>
            <a:r>
              <a:rPr lang="en-US" sz="7100" spc="-44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Future Roadmap &amp;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3126" y="3385152"/>
            <a:ext cx="9773716" cy="5358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0080" indent="-335040" lvl="1">
              <a:lnSpc>
                <a:spcPts val="3227"/>
              </a:lnSpc>
              <a:buFont typeface="Arial"/>
              <a:buChar char="•"/>
            </a:pPr>
            <a:r>
              <a:rPr lang="en-US" b="true" sz="3103" spc="-19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Multi-User Personalization: </a:t>
            </a:r>
            <a:r>
              <a:rPr lang="en-US" sz="3103" spc="-19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Individual users in a Fishjam room can select their preferred description detail.</a:t>
            </a:r>
          </a:p>
          <a:p>
            <a:pPr algn="l">
              <a:lnSpc>
                <a:spcPts val="3227"/>
              </a:lnSpc>
            </a:pPr>
          </a:p>
          <a:p>
            <a:pPr algn="l" marL="670080" indent="-335040" lvl="1">
              <a:lnSpc>
                <a:spcPts val="3227"/>
              </a:lnSpc>
              <a:buFont typeface="Arial"/>
              <a:buChar char="•"/>
            </a:pPr>
            <a:r>
              <a:rPr lang="en-US" b="true" sz="3103" spc="-19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Global Reach: </a:t>
            </a:r>
            <a:r>
              <a:rPr lang="en-US" sz="3103" spc="-19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Real-time, on-the-fly translation into multiple languages.</a:t>
            </a:r>
          </a:p>
          <a:p>
            <a:pPr algn="l">
              <a:lnSpc>
                <a:spcPts val="3227"/>
              </a:lnSpc>
            </a:pPr>
          </a:p>
          <a:p>
            <a:pPr algn="l" marL="670080" indent="-335040" lvl="1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03" spc="-19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Broad Application:</a:t>
            </a:r>
            <a:r>
              <a:rPr lang="en-US" sz="3103" spc="-19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Expanding to live educational webinars, e-sports, and br</a:t>
            </a:r>
            <a:r>
              <a:rPr lang="en-US" sz="3103" spc="-19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eaking news.</a:t>
            </a:r>
          </a:p>
          <a:p>
            <a:pPr algn="l">
              <a:lnSpc>
                <a:spcPts val="3227"/>
              </a:lnSpc>
              <a:spcBef>
                <a:spcPct val="0"/>
              </a:spcBef>
            </a:pPr>
          </a:p>
          <a:p>
            <a:pPr algn="l" marL="670080" indent="-335040" lvl="1">
              <a:lnSpc>
                <a:spcPts val="322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03" spc="-19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 Vision: </a:t>
            </a:r>
            <a:r>
              <a:rPr lang="en-US" sz="3103" spc="-19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Making the live internet 100% accessible.</a:t>
            </a:r>
          </a:p>
          <a:p>
            <a:pPr algn="l">
              <a:lnSpc>
                <a:spcPts val="32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DAHFPhwn5iQ</dc:identifier>
  <dcterms:modified xsi:type="dcterms:W3CDTF">2011-08-01T06:04:30Z</dcterms:modified>
  <cp:revision>1</cp:revision>
  <dc:title>Tech Company</dc:title>
</cp:coreProperties>
</file>